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2"/>
  </p:handoutMasterIdLst>
  <p:sldIdLst>
    <p:sldId id="263" r:id="rId3"/>
    <p:sldId id="404" r:id="rId4"/>
    <p:sldId id="416" r:id="rId6"/>
    <p:sldId id="414" r:id="rId7"/>
    <p:sldId id="411" r:id="rId8"/>
    <p:sldId id="412" r:id="rId9"/>
    <p:sldId id="415" r:id="rId10"/>
    <p:sldId id="389" r:id="rId11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7" userDrawn="1">
          <p15:clr>
            <a:srgbClr val="A4A3A4"/>
          </p15:clr>
        </p15:guide>
        <p15:guide id="2" pos="388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ng-Kun Xie" initials="X" lastIdx="1" clrIdx="0"/>
  <p:cmAuthor id="2" name="X Drjh" initials="XD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FF0000"/>
    <a:srgbClr val="FFFFFF"/>
    <a:srgbClr val="404D70"/>
    <a:srgbClr val="071F65"/>
    <a:srgbClr val="26476A"/>
    <a:srgbClr val="DCDCDC"/>
    <a:srgbClr val="F0F0F0"/>
    <a:srgbClr val="E6E6E6"/>
    <a:srgbClr val="C8C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007"/>
        <p:guide pos="388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gs" Target="tags/tag71.xml"/><Relationship Id="rId16" Type="http://schemas.openxmlformats.org/officeDocument/2006/relationships/commentAuthors" Target="commentAuthors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handoutMaster" Target="handoutMasters/handoutMaster1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63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64.xml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5.xml"/><Relationship Id="rId1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image" Target="../media/image6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69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70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66" y="192448"/>
            <a:ext cx="3041951" cy="469946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0444" y="131588"/>
            <a:ext cx="2380432" cy="775816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8688705" y="91440"/>
            <a:ext cx="971550" cy="914400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2370138" y="3371850"/>
            <a:ext cx="7451725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5"/>
          <p:cNvSpPr txBox="1"/>
          <p:nvPr/>
        </p:nvSpPr>
        <p:spPr>
          <a:xfrm>
            <a:off x="1845945" y="3688080"/>
            <a:ext cx="8500110" cy="4781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4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2025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学术基金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南航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陈想老师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例会</a:t>
            </a:r>
            <a:endParaRPr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372485" y="4725670"/>
            <a:ext cx="5447030" cy="368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</a:t>
            </a:r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汇报人：文胜涛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  </a:t>
            </a:r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时间：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2025-12-26</a:t>
            </a:r>
            <a:endParaRPr lang="en-US" altLang="zh-CN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16940" y="2567940"/>
            <a:ext cx="10176510" cy="6508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30000"/>
              </a:lnSpc>
            </a:pPr>
            <a:r>
              <a:rPr lang="en-US" altLang="zh-CN" sz="2800" b="1">
                <a:latin typeface="Times New Roman" panose="02020603050405020304" charset="0"/>
                <a:cs typeface="Times New Roman" panose="02020603050405020304" charset="0"/>
              </a:rPr>
              <a:t>  </a:t>
            </a:r>
            <a:r>
              <a:rPr lang="zh-CN" altLang="en-US" sz="2800" b="1">
                <a:latin typeface="Times New Roman" panose="02020603050405020304" charset="0"/>
                <a:cs typeface="Times New Roman" panose="02020603050405020304" charset="0"/>
              </a:rPr>
              <a:t>基于</a:t>
            </a:r>
            <a:r>
              <a:rPr lang="en-US" altLang="zh-CN" sz="2800" b="1">
                <a:latin typeface="Times New Roman" panose="02020603050405020304" charset="0"/>
                <a:cs typeface="Times New Roman" panose="02020603050405020304" charset="0"/>
              </a:rPr>
              <a:t>MindSpore</a:t>
            </a:r>
            <a:r>
              <a:rPr lang="zh-CN" altLang="en-US" sz="2800" b="1">
                <a:latin typeface="Times New Roman" panose="02020603050405020304" charset="0"/>
                <a:cs typeface="Times New Roman" panose="02020603050405020304" charset="0"/>
              </a:rPr>
              <a:t>的动态自适应训推优化引擎研究</a:t>
            </a:r>
            <a:endParaRPr lang="zh-CN" altLang="en-US" sz="28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356" y="192448"/>
            <a:ext cx="3041951" cy="469946"/>
          </a:xfrm>
          <a:prstGeom prst="rect">
            <a:avLst/>
          </a:prstGeom>
        </p:spPr>
      </p:pic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一、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Problem Defin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ition</a:t>
            </a:r>
            <a:endParaRPr 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490" y="3719830"/>
            <a:ext cx="3517900" cy="120205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122160" y="3834765"/>
            <a:ext cx="292989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1. </a:t>
            </a:r>
            <a:r>
              <a:rPr lang="zh-CN" altLang="en-US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定位长尾</a:t>
            </a:r>
            <a:r>
              <a:rPr lang="en-US" altLang="zh-CN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Samples</a:t>
            </a:r>
            <a:endParaRPr lang="en-US" altLang="zh-CN" sz="24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r>
              <a:rPr lang="en-US" altLang="zh-CN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2. </a:t>
            </a:r>
            <a:r>
              <a:rPr lang="zh-CN" altLang="en-US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处理</a:t>
            </a:r>
            <a:r>
              <a:rPr lang="en-US" altLang="zh-CN" sz="24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Samples</a:t>
            </a:r>
            <a:endParaRPr lang="en-US" altLang="zh-CN" sz="24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28015" y="1855470"/>
            <a:ext cx="10789285" cy="810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长尾阻塞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(Straggler Effect)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：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推理任务（尤其是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CoT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推理）的输出长度方差极大。在同步训练中，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1%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的长尾样本会迫使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99%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的短样本所在的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GPU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等待，导致巨大的算力浪费。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74625" y="570230"/>
            <a:ext cx="11910695" cy="13296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>
              <a:lnSpc>
                <a:spcPct val="130000"/>
              </a:lnSpc>
              <a:buClrTx/>
              <a:buSzTx/>
              <a:buFontTx/>
            </a:pPr>
            <a:r>
              <a:rPr lang="zh-CN" altLang="en-US" sz="1800" b="1">
                <a:latin typeface="Times New Roman" panose="02020603050405020304" charset="0"/>
                <a:cs typeface="Times New Roman" panose="02020603050405020304" charset="0"/>
              </a:rPr>
              <a:t>二、处理长尾问题</a:t>
            </a:r>
            <a:r>
              <a:rPr lang="en-US" altLang="zh-CN" sz="1800" b="1">
                <a:latin typeface="Times New Roman" panose="02020603050405020304" charset="0"/>
                <a:cs typeface="Times New Roman" panose="02020603050405020304" charset="0"/>
              </a:rPr>
              <a:t>——Repack Mechanism</a:t>
            </a: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Source Rollouts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：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那些被判定为处于长尾阶段、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GPU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未跑满的副本，它们是需要被清空并释放的对象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Destination Rollouts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：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同样处于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处于长尾阶段、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GPU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  <a:sym typeface="+mn-ea"/>
              </a:rPr>
              <a:t>未跑满的副本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，但被选作容器来接收来自源副本的任务，以便将它们打包成效率更高的</a:t>
            </a:r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 Batch </a:t>
            </a:r>
            <a:r>
              <a:rPr lang="zh-CN" altLang="en-US" sz="1400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zh-CN" altLang="en-US" sz="1400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</a:pPr>
            <a:r>
              <a:rPr lang="en-US" altLang="zh-CN" sz="1800" b="1">
                <a:latin typeface="Times New Roman" panose="02020603050405020304" charset="0"/>
                <a:cs typeface="Times New Roman" panose="02020603050405020304" charset="0"/>
              </a:rPr>
              <a:t>执行最佳拟合算法 (Best-Fit Algorithm)</a:t>
            </a:r>
            <a:endParaRPr lang="en-US" altLang="zh-CN" sz="18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645" y="1921510"/>
            <a:ext cx="5207635" cy="4824095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215900" y="3035300"/>
            <a:ext cx="6024245" cy="26416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537960" y="298323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长尾</a:t>
            </a:r>
            <a:r>
              <a:rPr lang="zh-CN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replicas</a:t>
            </a:r>
            <a:endParaRPr lang="zh-CN" altLang="en-US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76860" y="3307715"/>
            <a:ext cx="3652520" cy="189230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99710" y="3307715"/>
            <a:ext cx="610298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KVcache</a:t>
            </a:r>
            <a:r>
              <a:rPr lang="zh-CN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越小的副本</a:t>
            </a:r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优先被移动</a:t>
            </a:r>
            <a:endParaRPr lang="zh-CN" altLang="en-US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215900" y="4902200"/>
            <a:ext cx="5138420" cy="340995"/>
          </a:xfrm>
          <a:prstGeom prst="rect">
            <a:avLst/>
          </a:prstGeom>
          <a:noFill/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443855" y="4902200"/>
            <a:ext cx="65773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如果对当前</a:t>
            </a:r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s</a:t>
            </a:r>
            <a:r>
              <a:rPr lang="zh-CN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，有多个满足</a:t>
            </a:r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CanFit() </a:t>
            </a:r>
            <a:r>
              <a:rPr lang="zh-CN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条件的副本，则采用移动后</a:t>
            </a:r>
            <a:r>
              <a:rPr lang="en-US" altLang="zh-CN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KVcache</a:t>
            </a:r>
            <a:r>
              <a:rPr lang="zh-CN" altLang="en-US" sz="140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最大的</a:t>
            </a:r>
            <a:endParaRPr lang="zh-CN" altLang="en-US" sz="1400">
              <a:solidFill>
                <a:srgbClr val="FF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1275" y="51435"/>
            <a:ext cx="1083183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</a:rPr>
              <a:t>Laminar: A Scalable Asynchronous RL Post-Training Framework</a:t>
            </a:r>
            <a:endParaRPr lang="en-US" altLang="zh-CN" sz="2400" b="1">
              <a:solidFill>
                <a:srgbClr val="C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356" y="192448"/>
            <a:ext cx="3041951" cy="469946"/>
          </a:xfrm>
          <a:prstGeom prst="rect">
            <a:avLst/>
          </a:prstGeom>
        </p:spPr>
      </p:pic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二、</a:t>
            </a:r>
            <a:r>
              <a:rPr 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Methods</a:t>
            </a:r>
            <a:endParaRPr 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62915" y="1038860"/>
            <a:ext cx="11525250" cy="36106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en-US" altLang="zh-CN" sz="1600" b="1">
                <a:latin typeface="Times New Roman" panose="02020603050405020304" charset="0"/>
                <a:sym typeface="+mn-ea"/>
              </a:rPr>
              <a:t>1. </a:t>
            </a:r>
            <a:r>
              <a:rPr lang="zh-CN" altLang="en-US" sz="1600" b="1">
                <a:latin typeface="Times New Roman" panose="02020603050405020304" charset="0"/>
                <a:sym typeface="+mn-ea"/>
              </a:rPr>
              <a:t>核心理念：基于预测的分层异步调度</a:t>
            </a:r>
            <a:endParaRPr lang="zh-CN" altLang="en-US" sz="1600" b="1">
              <a:latin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我们不再把所有样本一视同仁地塞进同一个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Batch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，而是先跑一个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Epoch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，根据它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们 “预计要消耗的时间” 进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行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排序。</a:t>
            </a:r>
            <a:endParaRPr lang="en-US" altLang="zh-CN" sz="1600">
              <a:latin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动作：</a:t>
            </a:r>
            <a:endParaRPr lang="en-US" altLang="zh-CN" sz="1600">
              <a:latin typeface="Times New Roman" panose="02020603050405020304" charset="0"/>
              <a:sym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简单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/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中等样本（预测耗时短）：分发给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Fast Workers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。这些节点追求高并发、快速周转。</a:t>
            </a:r>
            <a:endParaRPr lang="en-US" altLang="zh-CN" sz="1600">
              <a:latin typeface="Times New Roman" panose="02020603050405020304" charset="0"/>
              <a:sym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长尾样本（预测耗时长）：分发给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Heavy Workers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。这些节点显存充足，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Batch Size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较小，专门处理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长样本。</a:t>
            </a:r>
            <a:endParaRPr lang="en-US" altLang="zh-CN" sz="1600">
              <a:latin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en-US" altLang="zh-CN" sz="1600" b="1">
                <a:latin typeface="Times New Roman" panose="02020603050405020304" charset="0"/>
                <a:sym typeface="+mn-ea"/>
              </a:rPr>
              <a:t>2. </a:t>
            </a:r>
            <a:r>
              <a:rPr lang="zh-CN" altLang="en-US" sz="1600" b="1">
                <a:latin typeface="Times New Roman" panose="02020603050405020304" charset="0"/>
                <a:sym typeface="+mn-ea"/>
              </a:rPr>
              <a:t>异常处理：时间熔断与重打包</a:t>
            </a:r>
            <a:r>
              <a:rPr lang="en-US" altLang="zh-CN" sz="1600" b="1">
                <a:latin typeface="Times New Roman" panose="02020603050405020304" charset="0"/>
                <a:sym typeface="+mn-ea"/>
              </a:rPr>
              <a:t> (Time-Based Repack)</a:t>
            </a:r>
            <a:endParaRPr lang="en-US" altLang="zh-CN" sz="1600" b="1">
              <a:latin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预测总会出错。当一个被认</a:t>
            </a:r>
            <a:r>
              <a:rPr lang="zh-CN" altLang="en-US" sz="16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为是“短任务”的样本在 Fast Worker 上跑了太久，必须有机制把它踢出去，防止它阻塞其他几千个短任务的快速流转。</a:t>
            </a:r>
            <a:endParaRPr lang="zh-CN" altLang="en-US" sz="16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监控：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Fast Worker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实时监控每个样本的累计生成时间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(Elapsed Duration)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。</a:t>
            </a:r>
            <a:endParaRPr lang="en-US" altLang="zh-CN" sz="1600">
              <a:latin typeface="Times New Roman" panose="02020603050405020304" charset="0"/>
              <a:sym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熔断：一旦某样本超过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时间阈值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(Time Limit)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，立即暂停生成。</a:t>
            </a:r>
            <a:endParaRPr lang="zh-CN" altLang="en-US" sz="1600">
              <a:latin typeface="Times New Roman" panose="02020603050405020304" charset="0"/>
              <a:sym typeface="+mn-ea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迁移：仅将该样本的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Token IDs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打包，发送给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Heavy Worker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接盘。原节点立即释放资源。</a:t>
            </a:r>
            <a:endParaRPr lang="zh-CN" altLang="en-US" sz="1600">
              <a:latin typeface="Times New Roman" panose="0202060305040502030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356" y="192448"/>
            <a:ext cx="3041951" cy="469946"/>
          </a:xfrm>
          <a:prstGeom prst="rect">
            <a:avLst/>
          </a:prstGeom>
        </p:spPr>
      </p:pic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二、</a:t>
            </a:r>
            <a:r>
              <a:rPr 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Methods</a:t>
            </a:r>
            <a:endParaRPr 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04800" y="1038860"/>
            <a:ext cx="11682730" cy="30511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en-US" altLang="zh-CN" sz="2000" b="1">
                <a:latin typeface="Times New Roman" panose="02020603050405020304" charset="0"/>
                <a:cs typeface="Times New Roman" panose="02020603050405020304" charset="0"/>
              </a:rPr>
              <a:t>Dynamic </a:t>
            </a:r>
            <a:r>
              <a:rPr lang="en-US" altLang="zh-CN" sz="2000" b="1">
                <a:latin typeface="Times New Roman" panose="02020603050405020304" charset="0"/>
                <a:cs typeface="Times New Roman" panose="02020603050405020304" charset="0"/>
              </a:rPr>
              <a:t>Segment Rollout </a:t>
            </a:r>
            <a:endParaRPr lang="en-US" altLang="zh-CN" sz="2000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定义一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个</a:t>
            </a:r>
            <a:r>
              <a:rPr lang="en-US" altLang="zh-CN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单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batch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次最大处理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token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数</a:t>
            </a:r>
            <a:r>
              <a:rPr lang="zh-CN" altLang="en-US" sz="16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en-US" altLang="zh-CN" sz="1600" b="1" i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Total_Token_Capacity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，</a:t>
            </a:r>
            <a:endParaRPr lang="zh-CN" altLang="en-US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以及</a:t>
            </a:r>
            <a:endParaRPr lang="zh-CN" altLang="en-US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Lmax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(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单次最大步长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)4096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(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即使只有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1 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个样本，一次也不要生成超过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4k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，防止单次卡顿太久，</a:t>
            </a:r>
            <a:endParaRPr lang="zh-CN" altLang="en-US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Lmin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(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单次最小步长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)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：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64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。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(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太短了会导致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Python 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循环开销大于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GPU 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计算时间，得不偿失。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)</a:t>
            </a:r>
            <a:endParaRPr lang="en-US" altLang="zh-CN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endParaRPr lang="en-US" altLang="zh-CN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endParaRPr lang="en-US" altLang="zh-CN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endParaRPr lang="en-US" altLang="zh-CN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 sz="1600">
                <a:latin typeface="Times New Roman" panose="02020603050405020304" charset="0"/>
                <a:sym typeface="+mn-ea"/>
              </a:rPr>
              <a:t>流程：起步阶段（</a:t>
            </a:r>
            <a:r>
              <a:rPr lang="en-US" altLang="zh-CN" sz="1600" b="1" i="1">
                <a:latin typeface="Times New Roman" panose="02020603050405020304" charset="0"/>
                <a:sym typeface="+mn-ea"/>
              </a:rPr>
              <a:t>N</a:t>
            </a:r>
            <a:r>
              <a:rPr lang="en-US" altLang="zh-CN" sz="1600" b="1" i="1" baseline="-25000">
                <a:latin typeface="Times New Roman" panose="02020603050405020304" charset="0"/>
                <a:sym typeface="+mn-ea"/>
              </a:rPr>
              <a:t>active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大）用极短步长（如</a:t>
            </a:r>
            <a:r>
              <a:rPr lang="en-US" altLang="zh-CN" sz="1600">
                <a:latin typeface="Times New Roman" panose="02020603050405020304" charset="0"/>
                <a:sym typeface="+mn-ea"/>
              </a:rPr>
              <a:t> 64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）快速清洗简单题；收尾阶段（</a:t>
            </a:r>
            <a:r>
              <a:rPr lang="en-US" altLang="zh-CN" sz="1600" b="1" i="1">
                <a:latin typeface="Times New Roman" panose="02020603050405020304" charset="0"/>
                <a:sym typeface="+mn-ea"/>
              </a:rPr>
              <a:t>N</a:t>
            </a:r>
            <a:r>
              <a:rPr lang="en-US" altLang="zh-CN" sz="1600" b="1" i="1" baseline="-25000">
                <a:latin typeface="Times New Roman" panose="02020603050405020304" charset="0"/>
                <a:sym typeface="+mn-ea"/>
              </a:rPr>
              <a:t>active </a:t>
            </a:r>
            <a:r>
              <a:rPr lang="zh-CN" altLang="en-US" sz="1600">
                <a:latin typeface="Times New Roman" panose="02020603050405020304" charset="0"/>
                <a:sym typeface="+mn-ea"/>
              </a:rPr>
              <a:t>小）步长自动拉满，让长尾任务全速跑完。</a:t>
            </a:r>
            <a:endParaRPr lang="en-US" altLang="zh-CN" sz="1600" b="1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835" y="2969260"/>
            <a:ext cx="5039360" cy="5803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356" y="192448"/>
            <a:ext cx="3041951" cy="469946"/>
          </a:xfrm>
          <a:prstGeom prst="rect">
            <a:avLst/>
          </a:prstGeom>
        </p:spPr>
      </p:pic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二、</a:t>
            </a:r>
            <a:r>
              <a:rPr 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Methods</a:t>
            </a:r>
            <a:endParaRPr 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81940" y="852170"/>
            <a:ext cx="11778615" cy="44075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Fast Workers: 4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张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追求高吞吐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		Heavy Workers: 1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张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专门处理长尾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全局参数：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Total_Token_Capacity: 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65,536 (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单卡单次最大处理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Token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数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)	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L_max: 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4096, 	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L_min: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64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Time_Limit_Fast: 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5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秒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(Fast Worker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单样本最大容忍时间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)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数据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Batch (10,000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条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Prompt)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：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绝大部分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(80%):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简单问答，预计生成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&lt; 200 tokens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极少数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(5%):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代码生成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/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长文，预计生成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&gt; 2000 tokens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刺头样本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(ID #9527):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历史记录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它是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短样本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，但这次模型突然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“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顿悟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”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了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，准备生成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5000 tokens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第一阶段：宏观调度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(The Dispatch)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Dispatcher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扫描这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10,000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条样本的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Prompt_Hash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，在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Redis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表中查询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EMA_Duration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（历史耗时）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分流：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9,500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条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预测短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/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中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) ——&gt;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被推送到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Fast Queue		500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条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(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预测长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) ——&gt;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被推送到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Heavy Queue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8" name="矩形 17"/>
          <p:cNvSpPr/>
          <p:nvPr/>
        </p:nvSpPr>
        <p:spPr>
          <a:xfrm>
            <a:off x="0" y="135620"/>
            <a:ext cx="89452" cy="52677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45356" y="192448"/>
            <a:ext cx="3041951" cy="469946"/>
          </a:xfrm>
          <a:prstGeom prst="rect">
            <a:avLst/>
          </a:prstGeom>
        </p:spPr>
      </p:pic>
      <p:sp>
        <p:nvSpPr>
          <p:cNvPr id="19" name="文本框 37"/>
          <p:cNvSpPr txBox="1"/>
          <p:nvPr/>
        </p:nvSpPr>
        <p:spPr>
          <a:xfrm>
            <a:off x="173355" y="165735"/>
            <a:ext cx="6948805" cy="520700"/>
          </a:xfrm>
          <a:prstGeom prst="rect">
            <a:avLst/>
          </a:prstGeom>
          <a:noFill/>
        </p:spPr>
        <p:txBody>
          <a:bodyPr wrap="square" lIns="91431" tIns="45716" rIns="91431" bIns="45716" rtlCol="0">
            <a:spAutoFit/>
          </a:bodyPr>
          <a:p>
            <a:r>
              <a:rPr lang="zh-CN" alt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二、</a:t>
            </a:r>
            <a:r>
              <a:rPr lang="en-US" sz="2800" b="1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Methods</a:t>
            </a:r>
            <a:endParaRPr lang="en-US" sz="2800" b="1" dirty="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81940" y="852170"/>
            <a:ext cx="11778615" cy="54870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第二阶段：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Rollouter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</a:rPr>
              <a:t>内部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Round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1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</a:rPr>
              <a:t>N</a:t>
            </a:r>
            <a:r>
              <a:rPr lang="en-US" altLang="zh-CN" b="1" i="1" baseline="-25000">
                <a:latin typeface="Times New Roman" panose="02020603050405020304" charset="0"/>
                <a:cs typeface="Times New Roman" panose="02020603050405020304" charset="0"/>
              </a:rPr>
              <a:t>active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= 512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</a:rPr>
              <a:t>L</a:t>
            </a:r>
            <a:r>
              <a:rPr lang="en-US" altLang="zh-CN" b="1" i="1" baseline="-25000">
                <a:latin typeface="Times New Roman" panose="02020603050405020304" charset="0"/>
                <a:cs typeface="Times New Roman" panose="02020603050405020304" charset="0"/>
              </a:rPr>
              <a:t>next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  = 65536 / 512 = 128 ——&gt;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所有样本生成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128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个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token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，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300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个样本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rollout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完了，清洗了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 30%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</a:rPr>
              <a:t>的样本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l">
              <a:lnSpc>
                <a:spcPct val="130000"/>
              </a:lnSpc>
              <a:buClrTx/>
              <a:buSzTx/>
              <a:buFontTx/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Round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</a:rPr>
              <a:t>2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N</a:t>
            </a:r>
            <a:r>
              <a:rPr lang="en-US" altLang="zh-CN" b="1" i="1" baseline="-25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active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= 300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L</a:t>
            </a:r>
            <a:r>
              <a:rPr lang="en-US" altLang="zh-CN" b="1" i="1" baseline="-25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next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= 65536 / 300 = 218 ——&gt;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所有样本生成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218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个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token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，假设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200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个样本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rollout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完了</a:t>
            </a:r>
            <a:endParaRPr lang="zh-CN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Round3</a:t>
            </a:r>
            <a:endParaRPr lang="en-US" altLang="zh-CN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N</a:t>
            </a:r>
            <a:r>
              <a:rPr lang="en-US" altLang="zh-CN" b="1" i="1" baseline="-25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active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= 100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>
              <a:lnSpc>
                <a:spcPct val="130000"/>
              </a:lnSpc>
            </a:pPr>
            <a:r>
              <a:rPr lang="en-US" altLang="zh-CN" b="1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L</a:t>
            </a:r>
            <a:r>
              <a:rPr lang="en-US" altLang="zh-CN" b="1" i="1" baseline="-25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next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= 65536 / 300 = 500 ——&gt;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所有样本生成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500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个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token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，遇到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EOS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都结束</a:t>
            </a:r>
            <a:endParaRPr lang="zh-CN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endParaRPr lang="en-US" altLang="zh-CN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Round N: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熔断</a:t>
            </a:r>
            <a:r>
              <a:rPr lang="en-US" altLang="zh-CN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 (The Circuit Breaker) - </a:t>
            </a:r>
            <a:r>
              <a:rPr lang="zh-CN" altLang="en-US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异常捕获</a:t>
            </a:r>
            <a:endParaRPr lang="zh-CN" altLang="en-US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样本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ID #9527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还在跑。它虽然历史记录是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“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短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”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，但今天它已经跑了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10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秒。其他样本平均只跑了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5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秒。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立即停止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#9527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的生成。提取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#9527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Prompt IDs +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已生成的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800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个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Token IDs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。将包发送给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Heavy Queue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>
              <a:lnSpc>
                <a:spcPct val="13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Fast Worker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释放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#9527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占用的显存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Slot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，如果有排队任务，立即补入一个新的短任务。</a:t>
            </a:r>
            <a:endParaRPr lang="zh-CN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66" y="192448"/>
            <a:ext cx="3041951" cy="469946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0444" y="131588"/>
            <a:ext cx="2380432" cy="775816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8688705" y="91440"/>
            <a:ext cx="971550" cy="914400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2370138" y="3371850"/>
            <a:ext cx="7451725" cy="0"/>
          </a:xfrm>
          <a:prstGeom prst="line">
            <a:avLst/>
          </a:prstGeom>
          <a:ln w="762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5"/>
          <p:cNvSpPr txBox="1"/>
          <p:nvPr/>
        </p:nvSpPr>
        <p:spPr>
          <a:xfrm>
            <a:off x="1845945" y="3688080"/>
            <a:ext cx="8500110" cy="4781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40000"/>
              </a:lnSpc>
            </a:pP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2025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学术基金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南航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陈想老师</a:t>
            </a:r>
            <a:r>
              <a:rPr lang="en-US" altLang="zh-CN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zh-CN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例会</a:t>
            </a:r>
            <a:endParaRPr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372485" y="4725670"/>
            <a:ext cx="5447030" cy="3683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</a:t>
            </a:r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汇报人：文胜涛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      </a:t>
            </a:r>
            <a:r>
              <a:rPr lang="zh-CN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时间：</a:t>
            </a:r>
            <a:r>
              <a:rPr lang="en-US" altLang="zh-CN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2025-12-26</a:t>
            </a:r>
            <a:endParaRPr lang="en-US" altLang="zh-CN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916940" y="2567940"/>
            <a:ext cx="10176510" cy="6508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30000"/>
              </a:lnSpc>
            </a:pPr>
            <a:r>
              <a:rPr lang="en-US" altLang="zh-CN" sz="2800" b="1">
                <a:latin typeface="Times New Roman" panose="02020603050405020304" charset="0"/>
                <a:cs typeface="Times New Roman" panose="02020603050405020304" charset="0"/>
              </a:rPr>
              <a:t>  </a:t>
            </a:r>
            <a:r>
              <a:rPr lang="zh-CN" altLang="en-US" sz="2800" b="1">
                <a:latin typeface="Times New Roman" panose="02020603050405020304" charset="0"/>
                <a:cs typeface="Times New Roman" panose="02020603050405020304" charset="0"/>
              </a:rPr>
              <a:t>基于</a:t>
            </a:r>
            <a:r>
              <a:rPr lang="en-US" altLang="zh-CN" sz="2800" b="1">
                <a:latin typeface="Times New Roman" panose="02020603050405020304" charset="0"/>
                <a:cs typeface="Times New Roman" panose="02020603050405020304" charset="0"/>
              </a:rPr>
              <a:t>MindSpore</a:t>
            </a:r>
            <a:r>
              <a:rPr lang="zh-CN" altLang="en-US" sz="2800" b="1">
                <a:latin typeface="Times New Roman" panose="02020603050405020304" charset="0"/>
                <a:cs typeface="Times New Roman" panose="02020603050405020304" charset="0"/>
              </a:rPr>
              <a:t>的动态自适应训推优化引擎研究</a:t>
            </a:r>
            <a:endParaRPr lang="zh-CN" altLang="en-US" sz="2800" b="1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commondata" val="eyJoZGlkIjoiZDU2NmY3YmI0NTdjYTVjNmVlZTJlYzYxYjRiYTNmNzQifQ=="/>
  <p:tag name="resource_record_key" val="{&quot;10&quot;:[21576116],&quot;29&quot;:[50000199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2335</Words>
  <Application>WPS 演示</Application>
  <PresentationFormat>宽屏</PresentationFormat>
  <Paragraphs>90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Arial</vt:lpstr>
      <vt:lpstr>宋体</vt:lpstr>
      <vt:lpstr>Wingdings</vt:lpstr>
      <vt:lpstr>Wingdings</vt:lpstr>
      <vt:lpstr>Times New Roman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星月雨雪</cp:lastModifiedBy>
  <cp:revision>254</cp:revision>
  <dcterms:created xsi:type="dcterms:W3CDTF">2019-06-19T02:08:00Z</dcterms:created>
  <dcterms:modified xsi:type="dcterms:W3CDTF">2026-01-16T01:44:53Z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39CA27595FB84BC88759F1D6073ED9E6_11</vt:lpwstr>
  </property>
</Properties>
</file>