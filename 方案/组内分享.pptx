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12"/>
  </p:handoutMasterIdLst>
  <p:sldIdLst>
    <p:sldId id="263" r:id="rId3"/>
    <p:sldId id="404" r:id="rId4"/>
    <p:sldId id="418" r:id="rId6"/>
    <p:sldId id="416" r:id="rId7"/>
    <p:sldId id="419" r:id="rId8"/>
    <p:sldId id="414" r:id="rId9"/>
    <p:sldId id="411" r:id="rId10"/>
    <p:sldId id="389" r:id="rId11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07" userDrawn="1">
          <p15:clr>
            <a:srgbClr val="A4A3A4"/>
          </p15:clr>
        </p15:guide>
        <p15:guide id="2" pos="387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ng-Kun Xie" initials="X" lastIdx="1" clrIdx="0"/>
  <p:cmAuthor id="2" name="X Drjh" initials="XD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FF0000"/>
    <a:srgbClr val="FFFFFF"/>
    <a:srgbClr val="404D70"/>
    <a:srgbClr val="071F65"/>
    <a:srgbClr val="26476A"/>
    <a:srgbClr val="DCDCDC"/>
    <a:srgbClr val="F0F0F0"/>
    <a:srgbClr val="E6E6E6"/>
    <a:srgbClr val="C8C8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007"/>
        <p:guide pos="387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71.xml"/><Relationship Id="rId16" Type="http://schemas.openxmlformats.org/officeDocument/2006/relationships/commentAuthors" Target="commentAuthors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3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64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65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6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7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8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70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66" y="192448"/>
            <a:ext cx="3041951" cy="46994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0444" y="131588"/>
            <a:ext cx="2380432" cy="775816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3"/>
          <a:stretch>
            <a:fillRect/>
          </a:stretch>
        </p:blipFill>
        <p:spPr>
          <a:xfrm>
            <a:off x="8688705" y="91440"/>
            <a:ext cx="971550" cy="914400"/>
          </a:xfrm>
          <a:prstGeom prst="rect">
            <a:avLst/>
          </a:prstGeom>
        </p:spPr>
      </p:pic>
      <p:cxnSp>
        <p:nvCxnSpPr>
          <p:cNvPr id="10" name="直接连接符 9"/>
          <p:cNvCxnSpPr/>
          <p:nvPr/>
        </p:nvCxnSpPr>
        <p:spPr>
          <a:xfrm>
            <a:off x="2370138" y="3371850"/>
            <a:ext cx="745172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5"/>
          <p:cNvSpPr txBox="1"/>
          <p:nvPr/>
        </p:nvSpPr>
        <p:spPr>
          <a:xfrm>
            <a:off x="1845945" y="3688080"/>
            <a:ext cx="8500110" cy="478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40000"/>
              </a:lnSpc>
            </a:pPr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2025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学术基金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南航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陈想老师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例会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372485" y="4725670"/>
            <a:ext cx="5447030" cy="3683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  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汇报人：文胜涛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    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时间：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2026-01-16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16940" y="2567940"/>
            <a:ext cx="10176510" cy="6508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30000"/>
              </a:lnSpc>
            </a:pP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  </a:t>
            </a:r>
            <a:r>
              <a:rPr lang="zh-CN" altLang="en-US" sz="2800" b="1">
                <a:latin typeface="Times New Roman" panose="02020603050405020304" charset="0"/>
                <a:cs typeface="Times New Roman" panose="02020603050405020304" charset="0"/>
              </a:rPr>
              <a:t>基于</a:t>
            </a: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MindSpore</a:t>
            </a:r>
            <a:r>
              <a:rPr lang="zh-CN" altLang="en-US" sz="2800" b="1">
                <a:latin typeface="Times New Roman" panose="02020603050405020304" charset="0"/>
                <a:cs typeface="Times New Roman" panose="02020603050405020304" charset="0"/>
              </a:rPr>
              <a:t>的动态自适应训推优化引擎研究</a:t>
            </a:r>
            <a:endParaRPr lang="zh-CN" alt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矩形 17"/>
          <p:cNvSpPr/>
          <p:nvPr/>
        </p:nvSpPr>
        <p:spPr>
          <a:xfrm>
            <a:off x="0" y="135620"/>
            <a:ext cx="89452" cy="52677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356" y="192448"/>
            <a:ext cx="3041951" cy="469946"/>
          </a:xfrm>
          <a:prstGeom prst="rect">
            <a:avLst/>
          </a:prstGeom>
        </p:spPr>
      </p:pic>
      <p:sp>
        <p:nvSpPr>
          <p:cNvPr id="19" name="文本框 37"/>
          <p:cNvSpPr txBox="1"/>
          <p:nvPr/>
        </p:nvSpPr>
        <p:spPr>
          <a:xfrm>
            <a:off x="173355" y="165735"/>
            <a:ext cx="6948805" cy="520700"/>
          </a:xfrm>
          <a:prstGeom prst="rect">
            <a:avLst/>
          </a:prstGeom>
          <a:noFill/>
        </p:spPr>
        <p:txBody>
          <a:bodyPr wrap="square" lIns="91431" tIns="45716" rIns="91431" bIns="45716" rtlCol="0">
            <a:spAutoFit/>
          </a:bodyPr>
          <a:p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一、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Problem Defin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ition</a:t>
            </a:r>
            <a:endParaRPr lang="en-US" sz="2800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490" y="3719830"/>
            <a:ext cx="3517900" cy="120205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122160" y="3834765"/>
            <a:ext cx="29298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1. </a:t>
            </a:r>
            <a:r>
              <a:rPr lang="zh-CN" altLang="en-US"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定位长尾</a:t>
            </a:r>
            <a:r>
              <a:rPr lang="en-US" altLang="zh-CN"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Samples</a:t>
            </a:r>
            <a:endParaRPr lang="en-US" altLang="zh-CN" sz="2400" b="1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r>
              <a:rPr lang="en-US" altLang="zh-CN"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2. </a:t>
            </a:r>
            <a:r>
              <a:rPr lang="zh-CN" altLang="en-US"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处理</a:t>
            </a:r>
            <a:r>
              <a:rPr lang="en-US" altLang="zh-CN"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Samples</a:t>
            </a:r>
            <a:endParaRPr lang="en-US" altLang="zh-CN" sz="2400" b="1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8015" y="1855470"/>
            <a:ext cx="10789285" cy="810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长尾阻塞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 (Straggler Effect)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：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推理任务（尤其是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CoT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推理）的输出长度方差极大。在同步训练中，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1%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的长尾样本会迫使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99%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的短样本所在的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GPU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等待，导致巨大的算力浪费。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矩形 17"/>
          <p:cNvSpPr/>
          <p:nvPr/>
        </p:nvSpPr>
        <p:spPr>
          <a:xfrm>
            <a:off x="0" y="135620"/>
            <a:ext cx="89452" cy="52677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文本框 37"/>
          <p:cNvSpPr txBox="1"/>
          <p:nvPr/>
        </p:nvSpPr>
        <p:spPr>
          <a:xfrm>
            <a:off x="173355" y="165735"/>
            <a:ext cx="11476355" cy="520700"/>
          </a:xfrm>
          <a:prstGeom prst="rect">
            <a:avLst/>
          </a:prstGeom>
          <a:noFill/>
        </p:spPr>
        <p:txBody>
          <a:bodyPr wrap="square" lIns="91431" tIns="45716" rIns="91431" bIns="45716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二、方案优化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: </a:t>
            </a:r>
            <a:r>
              <a:rPr lang="en-US" altLang="zh-CN" sz="18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StreamRL: Scalable, Heterogeneous, RL for LLMs with Disaggregeted Stream Generation</a:t>
            </a:r>
            <a:endParaRPr lang="zh-CN" altLang="en-US" sz="2800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9535" y="870585"/>
            <a:ext cx="11910695" cy="15608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zh-CN" altLang="en-US" sz="1800" b="1">
                <a:latin typeface="Times New Roman" panose="02020603050405020304" charset="0"/>
                <a:cs typeface="Times New Roman" panose="02020603050405020304" charset="0"/>
              </a:rPr>
              <a:t>一、识别长尾</a:t>
            </a:r>
            <a:r>
              <a:rPr lang="zh-CN" altLang="en-US" sz="1800" b="1">
                <a:latin typeface="Times New Roman" panose="02020603050405020304" charset="0"/>
                <a:cs typeface="Times New Roman" panose="02020603050405020304" charset="0"/>
              </a:rPr>
              <a:t>问题</a:t>
            </a:r>
            <a:endParaRPr lang="zh-CN" altLang="en-US" sz="18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  <a:buClrTx/>
              <a:buSzTx/>
              <a:buFontTx/>
              <a:buNone/>
            </a:pP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事先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SFT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一个小模型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LLM model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，对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Prompt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的生成长度预测相对排名，随着训练地进行，定期使用最近生成的数据对排名器进行在线微调。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  <a:buClrTx/>
              <a:buSzTx/>
              <a:buFontTx/>
              <a:buNone/>
            </a:pPr>
            <a:r>
              <a:rPr lang="zh-CN" altLang="en-US" sz="1800" b="1">
                <a:latin typeface="Times New Roman" panose="02020603050405020304" charset="0"/>
                <a:cs typeface="Times New Roman" panose="02020603050405020304" charset="0"/>
              </a:rPr>
              <a:t>二、处理长尾问题</a:t>
            </a:r>
            <a:endParaRPr lang="en-US" altLang="zh-CN" sz="18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将排好序的样本队列取前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20%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作为长尾样本，并划分出一部分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worker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采用小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batch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运行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来处理长尾样本；其余的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worker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采用大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batch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处理普通样本。</a:t>
            </a:r>
            <a:endParaRPr lang="en-US" altLang="zh-CN" sz="18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</a:pPr>
            <a:endParaRPr lang="en-US" altLang="zh-CN" sz="1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355" y="2431415"/>
            <a:ext cx="4821555" cy="388937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418455" y="3263265"/>
            <a:ext cx="6477635" cy="17310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1800" b="1">
                <a:latin typeface="Times New Roman" panose="02020603050405020304" charset="0"/>
                <a:cs typeface="Times New Roman" panose="02020603050405020304" charset="0"/>
              </a:rPr>
              <a:t>优化点</a:t>
            </a:r>
            <a:endParaRPr lang="zh-CN" altLang="en-US" sz="18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</a:pP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既然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GRPO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需要对同一个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Prompt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采样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N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次（假设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N=8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），我们利用第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1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次采样作为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“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探路者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”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，如果这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1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条在规定时间做完了则标记为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Simple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，如果没有完成触发了熔断，则标记为标记为长尾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样本。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</a:pP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处理长尾样本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同上。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9535" y="870585"/>
            <a:ext cx="11910695" cy="20554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zh-CN" altLang="en-US" sz="1800" b="1">
                <a:latin typeface="Times New Roman" panose="02020603050405020304" charset="0"/>
                <a:cs typeface="Times New Roman" panose="02020603050405020304" charset="0"/>
              </a:rPr>
              <a:t>一、识别长尾</a:t>
            </a:r>
            <a:r>
              <a:rPr lang="zh-CN" altLang="en-US" sz="1800" b="1">
                <a:latin typeface="Times New Roman" panose="02020603050405020304" charset="0"/>
                <a:cs typeface="Times New Roman" panose="02020603050405020304" charset="0"/>
              </a:rPr>
              <a:t>问题</a:t>
            </a:r>
            <a:endParaRPr lang="zh-CN" altLang="en-US" sz="18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  <a:buClrTx/>
              <a:buSzTx/>
              <a:buFontTx/>
              <a:buNone/>
            </a:pP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当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GPU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的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KV Cache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不在增加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且低于最大阈值时，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  <a:buClrTx/>
              <a:buSzTx/>
              <a:buFontTx/>
              <a:buNone/>
            </a:pPr>
            <a:r>
              <a:rPr lang="zh-CN" altLang="en-US" sz="1800" b="1">
                <a:latin typeface="Times New Roman" panose="02020603050405020304" charset="0"/>
                <a:cs typeface="Times New Roman" panose="02020603050405020304" charset="0"/>
              </a:rPr>
              <a:t>二、处理长尾问题</a:t>
            </a:r>
            <a:r>
              <a:rPr lang="en-US" altLang="zh-CN" sz="1800" b="1">
                <a:latin typeface="Times New Roman" panose="02020603050405020304" charset="0"/>
                <a:cs typeface="Times New Roman" panose="02020603050405020304" charset="0"/>
              </a:rPr>
              <a:t>——Repack Mechanism</a:t>
            </a:r>
            <a:endParaRPr lang="en-US" altLang="zh-CN" sz="18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</a:pP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Source Rollouts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：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那些被判定为处于长尾阶段、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GPU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未跑满的副本，它们是需要被清空并释放的对象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。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</a:pP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Destination Rollouts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：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同样处于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处于长尾阶段、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GPU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未跑满的副本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，但被选作容器来接收来自源副本的任务，以便将它们打包成效率更高的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 Batch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。</a:t>
            </a:r>
            <a:endParaRPr lang="en-US" altLang="zh-CN" sz="18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</a:pPr>
            <a:endParaRPr lang="en-US" altLang="zh-CN" sz="1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35" y="3262630"/>
            <a:ext cx="5534660" cy="266827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98755" y="6073140"/>
            <a:ext cx="62763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>
                <a:latin typeface="Times New Roman" panose="02020603050405020304" charset="0"/>
                <a:cs typeface="Times New Roman" panose="02020603050405020304" charset="0"/>
              </a:rPr>
              <a:t>把</a:t>
            </a:r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</a:rPr>
              <a:t>Unfinished</a:t>
            </a:r>
            <a:r>
              <a:rPr lang="zh-CN" altLang="en-US" sz="1400" b="1">
                <a:latin typeface="Times New Roman" panose="02020603050405020304" charset="0"/>
                <a:cs typeface="Times New Roman" panose="02020603050405020304" charset="0"/>
              </a:rPr>
              <a:t>的计算状态和</a:t>
            </a:r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</a:rPr>
              <a:t>KV Cache</a:t>
            </a:r>
            <a:r>
              <a:rPr lang="zh-CN" altLang="en-US" sz="1400" b="1">
                <a:latin typeface="Times New Roman" panose="02020603050405020304" charset="0"/>
                <a:cs typeface="Times New Roman" panose="02020603050405020304" charset="0"/>
              </a:rPr>
              <a:t>从一个进程</a:t>
            </a:r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Source Rollouts</a:t>
            </a:r>
            <a:r>
              <a:rPr lang="zh-CN" altLang="en-US" sz="1400" b="1">
                <a:latin typeface="Times New Roman" panose="02020603050405020304" charset="0"/>
                <a:cs typeface="Times New Roman" panose="02020603050405020304" charset="0"/>
              </a:rPr>
              <a:t>迁移到另一个进程</a:t>
            </a:r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Destination Rollouts</a:t>
            </a:r>
            <a:endParaRPr lang="zh-CN" altLang="en-US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文本框 37"/>
          <p:cNvSpPr txBox="1"/>
          <p:nvPr/>
        </p:nvSpPr>
        <p:spPr>
          <a:xfrm>
            <a:off x="173355" y="165735"/>
            <a:ext cx="11870055" cy="520700"/>
          </a:xfrm>
          <a:prstGeom prst="rect">
            <a:avLst/>
          </a:prstGeom>
          <a:noFill/>
        </p:spPr>
        <p:txBody>
          <a:bodyPr wrap="square" lIns="91431" tIns="45716" rIns="91431" bIns="45716" rtlCol="0">
            <a:spAutoFit/>
          </a:bodyPr>
          <a:p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二、方案优化：</a:t>
            </a:r>
            <a:r>
              <a:rPr lang="en-US" altLang="zh-CN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Laminar: A Scalable Asynchronous RL Post-Training Framework</a:t>
            </a:r>
            <a:endParaRPr lang="en-US" altLang="zh-CN" b="1" dirty="0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0" y="135620"/>
            <a:ext cx="89452" cy="52677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161405" y="3263265"/>
            <a:ext cx="5734685" cy="1410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1800" b="1">
                <a:latin typeface="Times New Roman" panose="02020603050405020304" charset="0"/>
                <a:cs typeface="Times New Roman" panose="02020603050405020304" charset="0"/>
              </a:rPr>
              <a:t>优化点</a:t>
            </a:r>
            <a:endParaRPr lang="zh-CN" altLang="en-US" sz="18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</a:pP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借鉴其重打包的思想，当一个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worker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处于处理长尾阶段时，把其的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prompt +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生成的部分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response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发给专门处理长尾的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worker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，同时后面的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7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次采样也都交给处理长尾的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worker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。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9535" y="870585"/>
            <a:ext cx="11910695" cy="16433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30000"/>
              </a:lnSpc>
              <a:buClrTx/>
              <a:buSzTx/>
              <a:buFontTx/>
              <a:buNone/>
            </a:pPr>
            <a:r>
              <a:rPr lang="zh-CN" altLang="en-US" sz="1800" b="1">
                <a:latin typeface="Times New Roman" panose="02020603050405020304" charset="0"/>
                <a:cs typeface="Times New Roman" panose="02020603050405020304" charset="0"/>
              </a:rPr>
              <a:t>处理长尾问题</a:t>
            </a:r>
            <a:endParaRPr lang="en-US" altLang="zh-CN" sz="18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</a:pP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Segment Rollout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将超长输出的解码过程划分为多个短片段阶段，使模型每次仅需解码较短的长度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。这种机制允许已完成解码的样本立即进入经验池参与训练，而未完成的样本在后续迭代中继续生成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。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但是静态的segment长度导致步长僵化，设大了：短样本（如 50 tokens）需要空等很久才能退出，增加了 Latency。设小了，长样本需要经历极多次 Python 循环和 Kernel 启动，增加了 Overhead。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文本框 37"/>
          <p:cNvSpPr txBox="1"/>
          <p:nvPr/>
        </p:nvSpPr>
        <p:spPr>
          <a:xfrm>
            <a:off x="173355" y="165735"/>
            <a:ext cx="11870055" cy="520700"/>
          </a:xfrm>
          <a:prstGeom prst="rect">
            <a:avLst/>
          </a:prstGeom>
          <a:noFill/>
        </p:spPr>
        <p:txBody>
          <a:bodyPr wrap="square" lIns="91431" tIns="45716" rIns="91431" bIns="45716" rtlCol="0">
            <a:spAutoFit/>
          </a:bodyPr>
          <a:p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二、方案优化：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UloRL:An Ultra-Long Output Reinforcement Learning Approach for Advancing Reasoning</a:t>
            </a:r>
            <a:endParaRPr lang="en-US" altLang="zh-CN" b="1" dirty="0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0" y="135620"/>
            <a:ext cx="89452" cy="52677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9770" y="4704715"/>
            <a:ext cx="5039360" cy="58039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19735" y="2698115"/>
            <a:ext cx="11682730" cy="16097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Dynamic Segment Rollout 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定义一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单</a:t>
            </a:r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batch</a:t>
            </a:r>
            <a:r>
              <a:rPr lang="zh-CN" altLang="en-US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次最大处理</a:t>
            </a:r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token</a:t>
            </a:r>
            <a:r>
              <a:rPr lang="zh-CN" altLang="en-US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数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en-US" altLang="zh-CN" sz="1400" i="1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Total_Token_Capacity</a:t>
            </a:r>
            <a:r>
              <a:rPr lang="zh-CN" altLang="en-US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，</a:t>
            </a:r>
            <a:endParaRPr lang="zh-CN" altLang="en-US" sz="14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以及</a:t>
            </a:r>
            <a:endParaRPr lang="zh-CN" altLang="en-US" sz="14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400" i="1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L</a:t>
            </a:r>
            <a:r>
              <a:rPr lang="en-US" altLang="zh-CN" sz="1400" i="1" baseline="-2500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max</a:t>
            </a:r>
            <a:r>
              <a:rPr lang="zh-CN" altLang="en-US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：</a:t>
            </a:r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(</a:t>
            </a:r>
            <a:r>
              <a:rPr lang="zh-CN" altLang="en-US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单次最大步长</a:t>
            </a:r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)4096</a:t>
            </a:r>
            <a:r>
              <a:rPr lang="zh-CN" altLang="en-US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。</a:t>
            </a:r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(</a:t>
            </a:r>
            <a:r>
              <a:rPr lang="zh-CN" altLang="en-US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即使只有</a:t>
            </a:r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1 </a:t>
            </a:r>
            <a:r>
              <a:rPr lang="zh-CN" altLang="en-US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个样本，一次也不要生成超过</a:t>
            </a:r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4k</a:t>
            </a:r>
            <a:r>
              <a:rPr lang="zh-CN" altLang="en-US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，防止单次卡顿太久，</a:t>
            </a:r>
            <a:endParaRPr lang="zh-CN" altLang="en-US" sz="14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400" i="1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L</a:t>
            </a:r>
            <a:r>
              <a:rPr lang="en-US" altLang="zh-CN" sz="1400" i="1" baseline="-2500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min</a:t>
            </a:r>
            <a:r>
              <a:rPr lang="zh-CN" altLang="en-US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：</a:t>
            </a:r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(</a:t>
            </a:r>
            <a:r>
              <a:rPr lang="zh-CN" altLang="en-US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单次最小步长</a:t>
            </a:r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)</a:t>
            </a:r>
            <a:r>
              <a:rPr lang="zh-CN" altLang="en-US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：</a:t>
            </a:r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64</a:t>
            </a:r>
            <a:r>
              <a:rPr lang="zh-CN" altLang="en-US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。</a:t>
            </a:r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(</a:t>
            </a:r>
            <a:r>
              <a:rPr lang="zh-CN" altLang="en-US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太短了会导致</a:t>
            </a:r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Python </a:t>
            </a:r>
            <a:r>
              <a:rPr lang="zh-CN" altLang="en-US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循环开销大于</a:t>
            </a:r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GPU </a:t>
            </a:r>
            <a:r>
              <a:rPr lang="zh-CN" altLang="en-US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计算时间，得不偿失。</a:t>
            </a:r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)</a:t>
            </a:r>
            <a:endParaRPr lang="en-US" altLang="zh-CN" sz="14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88950" y="5562600"/>
            <a:ext cx="10953750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600">
                <a:latin typeface="Times New Roman" panose="02020603050405020304" charset="0"/>
                <a:sym typeface="+mn-ea"/>
              </a:rPr>
              <a:t>流程：起步阶段（</a:t>
            </a:r>
            <a:r>
              <a:rPr lang="en-US" altLang="zh-CN" sz="1600" b="1" i="1">
                <a:solidFill>
                  <a:srgbClr val="FF0000"/>
                </a:solidFill>
                <a:latin typeface="Times New Roman" panose="02020603050405020304" charset="0"/>
                <a:sym typeface="+mn-ea"/>
              </a:rPr>
              <a:t>N</a:t>
            </a:r>
            <a:r>
              <a:rPr lang="en-US" altLang="zh-CN" sz="1600" b="1" i="1" baseline="-25000">
                <a:solidFill>
                  <a:srgbClr val="FF0000"/>
                </a:solidFill>
                <a:latin typeface="Times New Roman" panose="02020603050405020304" charset="0"/>
                <a:sym typeface="+mn-ea"/>
              </a:rPr>
              <a:t>active </a:t>
            </a:r>
            <a:r>
              <a:rPr lang="zh-CN" altLang="en-US" sz="1600">
                <a:latin typeface="Times New Roman" panose="02020603050405020304" charset="0"/>
                <a:sym typeface="+mn-ea"/>
              </a:rPr>
              <a:t>大）用极短步长（如</a:t>
            </a:r>
            <a:r>
              <a:rPr lang="en-US" altLang="zh-CN" sz="1600">
                <a:latin typeface="Times New Roman" panose="02020603050405020304" charset="0"/>
                <a:sym typeface="+mn-ea"/>
              </a:rPr>
              <a:t> 64</a:t>
            </a:r>
            <a:r>
              <a:rPr lang="zh-CN" altLang="en-US" sz="1600">
                <a:latin typeface="Times New Roman" panose="02020603050405020304" charset="0"/>
                <a:sym typeface="+mn-ea"/>
              </a:rPr>
              <a:t>）快速清洗简单题；收尾阶段（</a:t>
            </a:r>
            <a:r>
              <a:rPr lang="en-US" altLang="zh-CN" sz="1600" b="1" i="1">
                <a:solidFill>
                  <a:srgbClr val="FF0000"/>
                </a:solidFill>
                <a:latin typeface="Times New Roman" panose="02020603050405020304" charset="0"/>
                <a:sym typeface="+mn-ea"/>
              </a:rPr>
              <a:t>N</a:t>
            </a:r>
            <a:r>
              <a:rPr lang="en-US" altLang="zh-CN" sz="1600" b="1" i="1" baseline="-25000">
                <a:solidFill>
                  <a:srgbClr val="FF0000"/>
                </a:solidFill>
                <a:latin typeface="Times New Roman" panose="02020603050405020304" charset="0"/>
                <a:sym typeface="+mn-ea"/>
              </a:rPr>
              <a:t>active </a:t>
            </a:r>
            <a:r>
              <a:rPr lang="zh-CN" altLang="en-US" sz="1600">
                <a:latin typeface="Times New Roman" panose="02020603050405020304" charset="0"/>
                <a:sym typeface="+mn-ea"/>
              </a:rPr>
              <a:t>小）步长自动拉满，让长尾任务全速跑完。</a:t>
            </a:r>
            <a:endParaRPr lang="en-US" altLang="zh-CN" sz="1600" b="1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矩形 17"/>
          <p:cNvSpPr/>
          <p:nvPr/>
        </p:nvSpPr>
        <p:spPr>
          <a:xfrm>
            <a:off x="0" y="135620"/>
            <a:ext cx="89452" cy="52677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356" y="192448"/>
            <a:ext cx="3041951" cy="469946"/>
          </a:xfrm>
          <a:prstGeom prst="rect">
            <a:avLst/>
          </a:prstGeom>
        </p:spPr>
      </p:pic>
      <p:sp>
        <p:nvSpPr>
          <p:cNvPr id="19" name="文本框 37"/>
          <p:cNvSpPr txBox="1"/>
          <p:nvPr/>
        </p:nvSpPr>
        <p:spPr>
          <a:xfrm>
            <a:off x="173355" y="165735"/>
            <a:ext cx="6948805" cy="520700"/>
          </a:xfrm>
          <a:prstGeom prst="rect">
            <a:avLst/>
          </a:prstGeom>
          <a:noFill/>
        </p:spPr>
        <p:txBody>
          <a:bodyPr wrap="square" lIns="91431" tIns="45716" rIns="91431" bIns="45716" rtlCol="0">
            <a:spAutoFit/>
          </a:bodyPr>
          <a:p>
            <a:r>
              <a:rPr lang="zh-CN" altLang="en-US" sz="28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三、最终</a:t>
            </a:r>
            <a:r>
              <a:rPr lang="zh-CN" altLang="en-US" sz="28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方案</a:t>
            </a:r>
            <a:endParaRPr lang="zh-CN" altLang="en-US" sz="2800" b="1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901700"/>
            <a:ext cx="5805170" cy="28016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" y="3792855"/>
            <a:ext cx="4432935" cy="29305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6395" y="901700"/>
            <a:ext cx="4133215" cy="298259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矩形 17"/>
          <p:cNvSpPr/>
          <p:nvPr/>
        </p:nvSpPr>
        <p:spPr>
          <a:xfrm>
            <a:off x="0" y="135620"/>
            <a:ext cx="89452" cy="52677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356" y="192448"/>
            <a:ext cx="3041951" cy="469946"/>
          </a:xfrm>
          <a:prstGeom prst="rect">
            <a:avLst/>
          </a:prstGeom>
        </p:spPr>
      </p:pic>
      <p:sp>
        <p:nvSpPr>
          <p:cNvPr id="19" name="文本框 37"/>
          <p:cNvSpPr txBox="1"/>
          <p:nvPr/>
        </p:nvSpPr>
        <p:spPr>
          <a:xfrm>
            <a:off x="173355" y="165735"/>
            <a:ext cx="6948805" cy="520700"/>
          </a:xfrm>
          <a:prstGeom prst="rect">
            <a:avLst/>
          </a:prstGeom>
          <a:noFill/>
        </p:spPr>
        <p:txBody>
          <a:bodyPr wrap="square" lIns="91431" tIns="45716" rIns="91431" bIns="45716" rtlCol="0">
            <a:spAutoFit/>
          </a:bodyPr>
          <a:p>
            <a:r>
              <a:rPr lang="zh-CN" altLang="en-US" sz="28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三、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完整工作流推演</a:t>
            </a:r>
            <a:endParaRPr lang="en-US" altLang="zh-CN" sz="2800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04800" y="1038860"/>
            <a:ext cx="11682730" cy="4570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假设一个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Prompt 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需要生成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8 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条，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Batch Size 128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。</a:t>
            </a:r>
            <a:endParaRPr lang="zh-CN" altLang="en-US" sz="16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6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1. </a:t>
            </a:r>
            <a:r>
              <a:rPr lang="zh-CN" altLang="en-US" sz="16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分发：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Dispatcher 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发出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128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探路者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Fast Worker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。</a:t>
            </a:r>
            <a:endParaRPr lang="zh-CN" altLang="en-US" sz="16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6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2. </a:t>
            </a:r>
            <a:r>
              <a:rPr lang="zh-CN" altLang="en-US" sz="16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探路执行：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Fast Worker 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启动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Dynamic Rollout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，步长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L=64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。</a:t>
            </a:r>
            <a:endParaRPr lang="zh-CN" altLang="en-US" sz="16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结果</a:t>
            </a:r>
            <a:r>
              <a:rPr lang="en-US" altLang="zh-CN" sz="16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A</a:t>
            </a:r>
            <a:r>
              <a:rPr lang="zh-CN" altLang="en-US" sz="16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：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100 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个样本在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64 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步内结束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——&gt;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判定为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Simple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。</a:t>
            </a:r>
            <a:endParaRPr lang="zh-CN" altLang="en-US" sz="16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结果</a:t>
            </a:r>
            <a:r>
              <a:rPr lang="en-US" altLang="zh-CN" sz="16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B</a:t>
            </a:r>
            <a:r>
              <a:rPr lang="zh-CN" altLang="en-US" sz="16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：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28 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个样本没结束，且随后触发熔断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$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——&gt;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判定为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Hard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。</a:t>
            </a:r>
            <a:endParaRPr lang="zh-CN" altLang="en-US" sz="16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zh-CN" sz="16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3. </a:t>
            </a:r>
            <a:r>
              <a:rPr lang="zh-CN" altLang="en-US" sz="16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路由</a:t>
            </a:r>
            <a:endParaRPr lang="en-US" altLang="zh-CN" sz="1600" b="1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100 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个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Simple Prompt 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的剩余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700 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条采样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——&gt; Fast Queue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。</a:t>
            </a:r>
            <a:endParaRPr lang="zh-CN" altLang="en-US" sz="16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28 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个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Hard Prompt 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的剩余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196 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条采样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——&gt;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Heavy Queue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。</a:t>
            </a:r>
            <a:endParaRPr lang="zh-CN" altLang="en-US" sz="16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那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28 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个熔断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的“探路者”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——&gt;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Repack 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到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Heavy Queue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。</a:t>
            </a:r>
            <a:endParaRPr lang="zh-CN" altLang="en-US" sz="16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endParaRPr lang="zh-CN" altLang="en-US" sz="16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zh-CN" sz="16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4. </a:t>
            </a:r>
            <a:r>
              <a:rPr lang="zh-CN" altLang="en-US" sz="16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分开推理：</a:t>
            </a:r>
            <a:endParaRPr lang="zh-CN" altLang="en-US" sz="1600" b="1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Fast Worker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：高并发吞吐，像机关枪一样处理短任务。</a:t>
            </a:r>
            <a:endParaRPr lang="en-US" altLang="zh-CN" sz="16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Heavy Worker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：稳扎稳打，利用长步长处理长任务。</a:t>
            </a:r>
            <a:endParaRPr lang="zh-CN" altLang="en-US" sz="16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zh-CN" sz="16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5. </a:t>
            </a:r>
            <a:r>
              <a:rPr lang="zh-CN" altLang="en-US" sz="16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训练：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所有轨迹汇入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Global Buffer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，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Learner 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取出数据，修正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Off-policy 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偏差，更新模型。</a:t>
            </a:r>
            <a:endParaRPr lang="zh-CN" altLang="en-US" sz="16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66" y="192448"/>
            <a:ext cx="3041951" cy="46994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0444" y="131588"/>
            <a:ext cx="2380432" cy="775816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3"/>
          <a:stretch>
            <a:fillRect/>
          </a:stretch>
        </p:blipFill>
        <p:spPr>
          <a:xfrm>
            <a:off x="8688705" y="91440"/>
            <a:ext cx="971550" cy="914400"/>
          </a:xfrm>
          <a:prstGeom prst="rect">
            <a:avLst/>
          </a:prstGeom>
        </p:spPr>
      </p:pic>
      <p:cxnSp>
        <p:nvCxnSpPr>
          <p:cNvPr id="10" name="直接连接符 9"/>
          <p:cNvCxnSpPr/>
          <p:nvPr/>
        </p:nvCxnSpPr>
        <p:spPr>
          <a:xfrm>
            <a:off x="2370138" y="3371850"/>
            <a:ext cx="745172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5"/>
          <p:cNvSpPr txBox="1"/>
          <p:nvPr/>
        </p:nvSpPr>
        <p:spPr>
          <a:xfrm>
            <a:off x="1845945" y="3688080"/>
            <a:ext cx="8500110" cy="478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40000"/>
              </a:lnSpc>
            </a:pPr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2025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学术基金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南航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陈想老师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例会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16940" y="2567940"/>
            <a:ext cx="10176510" cy="6508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30000"/>
              </a:lnSpc>
            </a:pP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  </a:t>
            </a:r>
            <a:r>
              <a:rPr lang="zh-CN" altLang="en-US" sz="2800" b="1">
                <a:latin typeface="Times New Roman" panose="02020603050405020304" charset="0"/>
                <a:cs typeface="Times New Roman" panose="02020603050405020304" charset="0"/>
              </a:rPr>
              <a:t>基于</a:t>
            </a: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MindSpore</a:t>
            </a:r>
            <a:r>
              <a:rPr lang="zh-CN" altLang="en-US" sz="2800" b="1">
                <a:latin typeface="Times New Roman" panose="02020603050405020304" charset="0"/>
                <a:cs typeface="Times New Roman" panose="02020603050405020304" charset="0"/>
              </a:rPr>
              <a:t>的动态自适应训推优化引擎研究</a:t>
            </a:r>
            <a:endParaRPr lang="zh-CN" alt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372485" y="4725670"/>
            <a:ext cx="5447030" cy="3683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  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汇报人：文胜涛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    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时间：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2026-01-16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p="http://schemas.openxmlformats.org/presentationml/2006/main">
  <p:tag name="commondata" val="eyJoZGlkIjoiZDU2NmY3YmI0NTdjYTVjNmVlZTJlYzYxYjRiYTNmNzQifQ=="/>
  <p:tag name="resource_record_key" val="{&quot;10&quot;:[21576116],&quot;29&quot;:[50000199],&quot;65&quot;:[2020508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2137</Words>
  <Application>WPS 演示</Application>
  <PresentationFormat>宽屏</PresentationFormat>
  <Paragraphs>78</Paragraphs>
  <Slides>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宋体</vt:lpstr>
      <vt:lpstr>Wingdings</vt:lpstr>
      <vt:lpstr>Wingdings</vt:lpstr>
      <vt:lpstr>Times New Roman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星月雨雪</cp:lastModifiedBy>
  <cp:revision>261</cp:revision>
  <dcterms:created xsi:type="dcterms:W3CDTF">2019-06-19T02:08:00Z</dcterms:created>
  <dcterms:modified xsi:type="dcterms:W3CDTF">2026-01-16T03:09:35Z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2052-12.1.0.21541</vt:lpwstr>
  </property>
  <property fmtid="{D5CDD505-2E9C-101B-9397-08002B2CF9AE}" pid="3" name="ICV">
    <vt:lpwstr>39CA27595FB84BC88759F1D6073ED9E6_11</vt:lpwstr>
  </property>
</Properties>
</file>