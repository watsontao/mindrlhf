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2"/>
  </p:handoutMasterIdLst>
  <p:sldIdLst>
    <p:sldId id="263" r:id="rId3"/>
    <p:sldId id="404" r:id="rId4"/>
    <p:sldId id="418" r:id="rId6"/>
    <p:sldId id="416" r:id="rId7"/>
    <p:sldId id="419" r:id="rId8"/>
    <p:sldId id="414" r:id="rId9"/>
    <p:sldId id="411" r:id="rId10"/>
    <p:sldId id="389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7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g-Kun Xie" initials="X" lastIdx="1" clrIdx="0"/>
  <p:cmAuthor id="2" name="X Drjh" initials="XD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0000"/>
    <a:srgbClr val="FFFFFF"/>
    <a:srgbClr val="404D70"/>
    <a:srgbClr val="071F65"/>
    <a:srgbClr val="26476A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07"/>
        <p:guide pos="38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7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66" y="192448"/>
            <a:ext cx="3041951" cy="4699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444" y="131588"/>
            <a:ext cx="2380432" cy="775816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8688705" y="91440"/>
            <a:ext cx="971550" cy="91440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2370138" y="3371850"/>
            <a:ext cx="745172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5"/>
          <p:cNvSpPr txBox="1"/>
          <p:nvPr/>
        </p:nvSpPr>
        <p:spPr>
          <a:xfrm>
            <a:off x="1845945" y="3688080"/>
            <a:ext cx="850011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2025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学术基金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南航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陈想老师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例会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72485" y="4725670"/>
            <a:ext cx="544703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汇报人：文胜涛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时间：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2026-01-16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6940" y="2567940"/>
            <a:ext cx="1017651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MindSpore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的动态自适应训推优化引擎研究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356" y="192448"/>
            <a:ext cx="3041951" cy="469946"/>
          </a:xfrm>
          <a:prstGeom prst="rect">
            <a:avLst/>
          </a:prstGeom>
        </p:spPr>
      </p:pic>
      <p:sp>
        <p:nvSpPr>
          <p:cNvPr id="19" name="文本框 37"/>
          <p:cNvSpPr txBox="1"/>
          <p:nvPr/>
        </p:nvSpPr>
        <p:spPr>
          <a:xfrm>
            <a:off x="173355" y="165735"/>
            <a:ext cx="694880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一、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Defin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ition</a:t>
            </a:r>
            <a:endParaRPr 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90" y="3719830"/>
            <a:ext cx="3517900" cy="12020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22160" y="3834765"/>
            <a:ext cx="2929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 </a:t>
            </a:r>
            <a:r>
              <a:rPr lang="zh-CN" altLang="en-US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定位长尾</a:t>
            </a:r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Samples</a:t>
            </a:r>
            <a:endParaRPr lang="en-US" altLang="zh-CN" sz="2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 </a:t>
            </a:r>
            <a:r>
              <a:rPr lang="zh-CN" altLang="en-US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处理</a:t>
            </a:r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Samples</a:t>
            </a:r>
            <a:endParaRPr lang="en-US" altLang="zh-CN" sz="2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015" y="1855470"/>
            <a:ext cx="1078928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长尾阻塞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(Straggler Effect)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推理任务（尤其是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CoT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推理）的输出长度方差极大。在同步训练中，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1%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的长尾样本会迫使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99%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的短样本所在的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等待，导致巨大的算力浪费。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37"/>
          <p:cNvSpPr txBox="1"/>
          <p:nvPr/>
        </p:nvSpPr>
        <p:spPr>
          <a:xfrm>
            <a:off x="173355" y="165735"/>
            <a:ext cx="1147635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二、方案优化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zh-CN" sz="18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StreamRL: Scalable, Heterogeneous, RL for LLMs with Disaggregeted Stream Generation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535" y="870585"/>
            <a:ext cx="11910695" cy="1560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一、识别长尾</a:t>
            </a: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问题</a:t>
            </a:r>
            <a:endParaRPr lang="zh-CN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事先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SFT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一个小模型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LLM model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，对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的生成长度预测相对排名，随着训练地进行，定期使用最近生成的数据对排名器进行在线微调。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将排好序的样本队列取前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20%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作为长尾样本，并划分出一部分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采用小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batch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运行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来处理长尾样本；其余的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采用大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batch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处理普通样本。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" y="2431415"/>
            <a:ext cx="4821555" cy="38893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18455" y="3263265"/>
            <a:ext cx="6477635" cy="1731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优化点</a:t>
            </a:r>
            <a:endParaRPr lang="zh-CN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既然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GRPO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需要对同一个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Prompt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采样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次（假设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N=8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），我们利用第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次采样作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探路者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，如果这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条在规定时间做完了则标记为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Simple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，如果没有完成触发了熔断，则标记为标记为长尾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样本。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处理长尾样本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同上。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535" y="870585"/>
            <a:ext cx="11910695" cy="2055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一、识别长尾</a:t>
            </a: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问题</a:t>
            </a:r>
            <a:endParaRPr lang="zh-CN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当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GPU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KV Cache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不在增加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且低于最大阈值时，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——Repack Mechanism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Source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那些被判定为处于长尾阶段、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GPU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未跑满的副本，它们是需要被清空并释放的对象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Destination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同样处于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处于长尾阶段、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GPU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未跑满的副本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，但被选作容器来接收来自源副本的任务，以便将它们打包成效率更高的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Batch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3262630"/>
            <a:ext cx="5534660" cy="26682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98755" y="6073140"/>
            <a:ext cx="62763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把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Unfinished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的计算状态和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KV Cache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从一个进程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Source Rollouts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迁移到另一个进程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Destination Rollouts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37"/>
          <p:cNvSpPr txBox="1"/>
          <p:nvPr/>
        </p:nvSpPr>
        <p:spPr>
          <a:xfrm>
            <a:off x="173355" y="165735"/>
            <a:ext cx="1187005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二、方案优化：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Laminar: A Scalable Asynchronous RL Post-Training Framework</a:t>
            </a:r>
            <a:endParaRPr lang="en-US" altLang="zh-CN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61405" y="3263265"/>
            <a:ext cx="5734685" cy="1410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优化点</a:t>
            </a:r>
            <a:endParaRPr lang="zh-CN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借鉴其重打包的思想，当一个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处于处理长尾阶段时，把其的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prompt +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生成的部分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response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发给专门处理长尾的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，同时后面的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次采样也都交给处理长尾的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535" y="870585"/>
            <a:ext cx="11910695" cy="164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处理长尾问题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Segment Rollout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将超长输出的解码过程划分为多个短片段阶段，使模型每次仅需解码较短的长度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。这种机制允许已完成解码的样本立即进入经验池参与训练，而未完成的样本在后续迭代中继续生成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但是静态的segment长度导致步长僵化，设大了：短样本（如 50 tokens）需要空等很久才能退出，增加了 Latency。设小了，长样本需要经历极多次 Python 循环和 Kernel 启动，增加了 Overhead。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37"/>
          <p:cNvSpPr txBox="1"/>
          <p:nvPr/>
        </p:nvSpPr>
        <p:spPr>
          <a:xfrm>
            <a:off x="173355" y="165735"/>
            <a:ext cx="1187005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二、方案优化：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UloRL:An Ultra-Long Output Reinforcement Learning Approach for Advancing Reasoning</a:t>
            </a:r>
            <a:endParaRPr lang="en-US" altLang="zh-CN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770" y="4704715"/>
            <a:ext cx="5039360" cy="5803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9735" y="2698115"/>
            <a:ext cx="11682730" cy="1609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Dynamic Segment Rollout 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定义一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单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batch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次最大处理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token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数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en-US" altLang="zh-CN" sz="1400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Total_Token_Capacity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以及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</a:t>
            </a:r>
            <a:r>
              <a:rPr lang="en-US" altLang="zh-CN" sz="1400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max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单次最大步长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)4096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即使只有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1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个样本，一次也不要生成超过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4k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，防止单次卡顿太久，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</a:t>
            </a:r>
            <a:r>
              <a:rPr lang="en-US" altLang="zh-CN" sz="1400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min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单次最小步长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64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太短了会导致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Python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循环开销大于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GPU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计算时间，得不偿失。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8950" y="5562600"/>
            <a:ext cx="10953750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sym typeface="+mn-ea"/>
              </a:rPr>
              <a:t>流程：起步阶段（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N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active </a:t>
            </a:r>
            <a:r>
              <a:rPr lang="zh-CN" altLang="en-US" sz="1600">
                <a:latin typeface="Times New Roman" panose="02020603050405020304" charset="0"/>
                <a:sym typeface="+mn-ea"/>
              </a:rPr>
              <a:t>大）用极短步长（如</a:t>
            </a:r>
            <a:r>
              <a:rPr lang="en-US" altLang="zh-CN" sz="1600">
                <a:latin typeface="Times New Roman" panose="02020603050405020304" charset="0"/>
                <a:sym typeface="+mn-ea"/>
              </a:rPr>
              <a:t> 64</a:t>
            </a:r>
            <a:r>
              <a:rPr lang="zh-CN" altLang="en-US" sz="1600">
                <a:latin typeface="Times New Roman" panose="02020603050405020304" charset="0"/>
                <a:sym typeface="+mn-ea"/>
              </a:rPr>
              <a:t>）快速清洗简单题；收尾阶段（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N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active </a:t>
            </a:r>
            <a:r>
              <a:rPr lang="zh-CN" altLang="en-US" sz="1600">
                <a:latin typeface="Times New Roman" panose="02020603050405020304" charset="0"/>
                <a:sym typeface="+mn-ea"/>
              </a:rPr>
              <a:t>小）步长自动拉满，让长尾任务全速跑完。</a:t>
            </a:r>
            <a:endParaRPr lang="en-US" altLang="zh-CN" sz="16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356" y="192448"/>
            <a:ext cx="3041951" cy="469946"/>
          </a:xfrm>
          <a:prstGeom prst="rect">
            <a:avLst/>
          </a:prstGeom>
        </p:spPr>
      </p:pic>
      <p:sp>
        <p:nvSpPr>
          <p:cNvPr id="19" name="文本框 37"/>
          <p:cNvSpPr txBox="1"/>
          <p:nvPr/>
        </p:nvSpPr>
        <p:spPr>
          <a:xfrm>
            <a:off x="173355" y="165735"/>
            <a:ext cx="694880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三、最终</a:t>
            </a:r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方案</a:t>
            </a:r>
            <a:endParaRPr lang="zh-CN" altLang="en-US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901700"/>
            <a:ext cx="5805170" cy="28016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792855"/>
            <a:ext cx="4432935" cy="2930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395" y="901700"/>
            <a:ext cx="4133215" cy="29825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356" y="192448"/>
            <a:ext cx="3041951" cy="469946"/>
          </a:xfrm>
          <a:prstGeom prst="rect">
            <a:avLst/>
          </a:prstGeom>
        </p:spPr>
      </p:pic>
      <p:sp>
        <p:nvSpPr>
          <p:cNvPr id="19" name="文本框 37"/>
          <p:cNvSpPr txBox="1"/>
          <p:nvPr/>
        </p:nvSpPr>
        <p:spPr>
          <a:xfrm>
            <a:off x="173355" y="165735"/>
            <a:ext cx="694880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三、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完整工作流推演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" y="1038860"/>
            <a:ext cx="11682730" cy="4570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假设一个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Prompt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需要生成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8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条，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Batch Size 128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分发：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Dispatcher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发出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128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探路者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Fast Worker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探路执行：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Fast Worker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启动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Dynamic Rollout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，步长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L=64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结果</a:t>
            </a: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A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个样本在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64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步内结束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——&gt;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判定为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Simple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结果</a:t>
            </a: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B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28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个样本没结束，且随后触发熔断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$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——&gt;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判定为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Hard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路由</a:t>
            </a:r>
            <a:endParaRPr lang="en-US" altLang="zh-CN" sz="16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Simple Prompt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的剩余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700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条采样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——&gt; Fast Queue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28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Hard Prompt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的剩余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196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条采样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——&gt;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Heavy Queue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那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28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个熔断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的“探路者”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——&gt;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Repack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到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Heavy Queue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分开推理：</a:t>
            </a:r>
            <a:endParaRPr lang="zh-CN" altLang="en-US" sz="16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Fast Worker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：高并发吞吐，像机关枪一样处理短任务。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Heavy Worker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：稳扎稳打，利用长步长处理长任务。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训练：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所有轨迹汇入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Global Buffer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Learner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取出数据，修正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Off-policy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偏差，更新模型。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66" y="192448"/>
            <a:ext cx="3041951" cy="4699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444" y="131588"/>
            <a:ext cx="2380432" cy="775816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8688705" y="91440"/>
            <a:ext cx="971550" cy="91440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2370138" y="3371850"/>
            <a:ext cx="745172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5"/>
          <p:cNvSpPr txBox="1"/>
          <p:nvPr/>
        </p:nvSpPr>
        <p:spPr>
          <a:xfrm>
            <a:off x="1845945" y="3688080"/>
            <a:ext cx="850011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2025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学术基金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南航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陈想老师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例会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6940" y="2567940"/>
            <a:ext cx="1017651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MindSpore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的动态自适应训推优化引擎研究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72485" y="4725670"/>
            <a:ext cx="544703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汇报人：文胜涛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时间：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2026-01-16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commondata" val="eyJoZGlkIjoiZDU2NmY3YmI0NTdjYTVjNmVlZTJlYzYxYjRiYTNmNzQifQ=="/>
  <p:tag name="resource_record_key" val="{&quot;10&quot;:[21576116],&quot;29&quot;:[5000019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WPS 演示</Application>
  <PresentationFormat>宽屏</PresentationFormat>
  <Paragraphs>78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星月雨雪</cp:lastModifiedBy>
  <cp:revision>262</cp:revision>
  <dcterms:created xsi:type="dcterms:W3CDTF">2019-06-19T02:08:00Z</dcterms:created>
  <dcterms:modified xsi:type="dcterms:W3CDTF">2026-01-16T03:11:50Z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39CA27595FB84BC88759F1D6073ED9E6_11</vt:lpwstr>
  </property>
</Properties>
</file>